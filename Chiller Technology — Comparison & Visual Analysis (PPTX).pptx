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-1371600"/>
            <a:ext cx="4572000" cy="4572000"/>
          </a:xfrm>
          <a:prstGeom prst="ellipse">
            <a:avLst/>
          </a:prstGeom>
          <a:solidFill>
            <a:srgbClr val="49B3C8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8FD4DE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1371600"/>
            <a:ext cx="2286000" cy="2286000"/>
          </a:xfrm>
          <a:prstGeom prst="ellipse">
            <a:avLst/>
          </a:prstGeom>
          <a:solidFill>
            <a:srgbClr val="A7C957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548640"/>
            <a:ext cx="12188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Chiller Technology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7F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VISUAL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7490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vs. new chiller types · compressor technologies · heat rejection · technology shift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420624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spider diagram + drill-down comparison package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4937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49B3C8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4937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→ New shift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4937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42B38"/>
          </a:solidFill>
          <a:ln w="12700">
            <a:solidFill>
              <a:srgbClr val="49B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4937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Chiller types table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MATRIX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vs. Newer Chiller Technology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architectural and operational differences across the chiller lifecycle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61104"/>
                <a:gridCol w="4261104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 chiller 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Newer chiller 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FD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Compressor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DA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Fixed-speed or limited staging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C9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Variable-speed drives, digital control, better staging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FD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Bearings &amp; lubrication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DA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Conventional bearings, oil management 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C9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Magnetic bearings in premium units, oil-free operation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FD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 focus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DA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full-load efficiency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C9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part-load efficiency (real-world operation)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FD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Refrigerant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DA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 CFC/HCFC-era refrigerants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C9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Lower-GWP refrigerants and transition designs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FD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DA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Mechanical thermostats, basic protection switches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C9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PLC/DDC, sensors, IoT, predictive maintenance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FD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exchanger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DA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 shell-and-tube, less optimized transfer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C9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exchangers, better surface 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FD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DA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oil service, more wear, more manual 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C9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maintenance in oil-free / better-controlled systems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FD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behavior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DA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inrush and mechanical stress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C9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start and smoother ramping with VFDs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FD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 integration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DA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standalone equipment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7C9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systems, remote monitoring, energy management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26364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DA7101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6236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737360" y="626364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A7C957"/>
          </a:solidFill>
          <a:ln/>
        </p:spPr>
      </p:sp>
      <p:sp>
        <p:nvSpPr>
          <p:cNvPr id="9" name="Text 6"/>
          <p:cNvSpPr/>
          <p:nvPr/>
        </p:nvSpPr>
        <p:spPr>
          <a:xfrm>
            <a:off x="2029968" y="6236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0" y="6236208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synthesis of standard HVAC chiller technology references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CHILLER TYPES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Chiller Type 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by generation, drive principle, and heat-rejection form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1371600"/>
                <a:gridCol w="2377440"/>
                <a:gridCol w="2331720"/>
                <a:gridCol w="233172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7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7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Chiller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7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7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technology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7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strengths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7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weaknesses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Vapor-compression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8FD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Reciprocating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DA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Piston compressor, on/off or staged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cost, simple, flexible in small systems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Noisy, vibration, high maintenance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Vapor-compression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8FD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Centrifugal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DA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Older–mature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compressor with impeller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loads, strong full-load efficiency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Low-load / surge risk if not modernized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Vapor-compression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8FD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F9A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Mature, common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Twin helical rotors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Reliable, good part-load, fewer parts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first cost, mature not cutting-edge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Vapor-compression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8FD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7C9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Newer mainstream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Spiral scroll, often modular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Compact, quiet, efficient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capacity vs. larger types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Vapor-compression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8FD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Oil-free centrifugal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7C9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Magnetic bearings, no oil circuit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efficiency, low friction, low maintenance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cost, specialized 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Vapor-compression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8FD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Turbocor / VSD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7C9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High-speed VFD, oil-free design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part-load, fast modulation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electronics, premium price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Heat-rejection form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8FD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Air-cooled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F9A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Rejects heat to ambient air via fans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install, no cooling tower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efficiency, ambient-sensitive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Heat-rejection form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8FD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Water-cooled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F9A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high-perf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Condenser water + cooling tower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efficiency, large-plant fit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equipment, water treatment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Non-compressor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8FD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Absorption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F9A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Heat-driven refrigeration cycle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Waste-heat / steam, lowers electric peak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COP, larger footprint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architecture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8FD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7C9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Newer concept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smaller chiller modules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Scalable, redundant, easy expansion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components to coordinate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0" y="635508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synthesis of standard HVAC chiller technology references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 Diagram — Chiller Technology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 with four branches: Old types, New types, Heat rejection, Technology shift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0" y="1508760"/>
            <a:ext cx="8869680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60350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 connects to sub-nodes representing specific chiller types and technology trends. Use the interactive HTML deck for click-through drill-down.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Differences Captured from the 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dimensions where old and new chiller technology diverge most clearly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266944" cy="2103120"/>
          </a:xfrm>
          <a:prstGeom prst="rect">
            <a:avLst>
              <a:gd name="adj" fmla="val 5217"/>
            </a:avLst>
          </a:prstGeom>
          <a:solidFill>
            <a:srgbClr val="142B38"/>
          </a:solidFill>
          <a:ln w="9525">
            <a:solidFill>
              <a:srgbClr val="2A4452"/>
            </a:solidFill>
          </a:ln>
        </p:spPr>
        <p:txBody>
          <a:bodyPr wrap="square" lIns="2540" tIns="2540" rIns="2540" bIns="2540" rtlCol="0" anchor="t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 CONTROL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DA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OLD:  </a:t>
            </a:r>
            <a:pPr indent="0" marL="0">
              <a:buNone/>
            </a:pPr>
            <a:r>
              <a:rPr lang="en-US" sz="1000" dirty="0">
                <a:solidFill>
                  <a:srgbClr val="FDA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Fixed-speed / staged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b="1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NEW:  </a:t>
            </a:r>
            <a:pPr indent="0" marL="0">
              <a:buNone/>
            </a:pPr>
            <a:r>
              <a:rPr lang="en-US" sz="1000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Variable-speed, digital modulation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Reciprocating and older centrifugal systems rely on on/off cycling or limited staging. Newer machines use VSD logic and tighter digital control.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373368" y="1600200"/>
            <a:ext cx="5266944" cy="2103120"/>
          </a:xfrm>
          <a:prstGeom prst="rect">
            <a:avLst>
              <a:gd name="adj" fmla="val 5217"/>
            </a:avLst>
          </a:prstGeom>
          <a:solidFill>
            <a:srgbClr val="142B38"/>
          </a:solidFill>
          <a:ln w="9525">
            <a:solidFill>
              <a:srgbClr val="2A4452"/>
            </a:solidFill>
          </a:ln>
        </p:spPr>
        <p:txBody>
          <a:bodyPr wrap="square" lIns="2540" tIns="2540" rIns="2540" bIns="2540" rtlCol="0" anchor="t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FOCUS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DA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OLD:  </a:t>
            </a:r>
            <a:pPr indent="0" marL="0">
              <a:buNone/>
            </a:pPr>
            <a:r>
              <a:rPr lang="en-US" sz="1000" dirty="0">
                <a:solidFill>
                  <a:srgbClr val="FDA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Full-load bias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b="1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NEW:  </a:t>
            </a:r>
            <a:pPr indent="0" marL="0">
              <a:buNone/>
            </a:pPr>
            <a:r>
              <a:rPr lang="en-US" sz="1000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Part-load optimization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chillers optimize for part-load, which matters more in real building plants because chillers rarely run at nameplate load all day.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5266944" cy="2103120"/>
          </a:xfrm>
          <a:prstGeom prst="rect">
            <a:avLst>
              <a:gd name="adj" fmla="val 5217"/>
            </a:avLst>
          </a:prstGeom>
          <a:solidFill>
            <a:srgbClr val="142B38"/>
          </a:solidFill>
          <a:ln w="9525">
            <a:solidFill>
              <a:srgbClr val="2A4452"/>
            </a:solidFill>
          </a:ln>
        </p:spPr>
        <p:txBody>
          <a:bodyPr wrap="square" lIns="2540" tIns="2540" rIns="2540" bIns="2540" rtlCol="0" anchor="t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PROFILE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DA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OLD:  </a:t>
            </a:r>
            <a:pPr indent="0" marL="0">
              <a:buNone/>
            </a:pPr>
            <a:r>
              <a:rPr lang="en-US" sz="1000" dirty="0">
                <a:solidFill>
                  <a:srgbClr val="FDA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Oil-heavy, more wear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b="1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NEW:  </a:t>
            </a:r>
            <a:pPr indent="0" marL="0">
              <a:buNone/>
            </a:pPr>
            <a:r>
              <a:rPr lang="en-US" sz="1000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Oil-free, reduced service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bring more vibration, oil management, and manual service. Oil-free designs reduce friction losses and maintenance points.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73368" y="3840480"/>
            <a:ext cx="5266944" cy="2103120"/>
          </a:xfrm>
          <a:prstGeom prst="rect">
            <a:avLst>
              <a:gd name="adj" fmla="val 5217"/>
            </a:avLst>
          </a:prstGeom>
          <a:solidFill>
            <a:srgbClr val="142B38"/>
          </a:solidFill>
          <a:ln w="9525">
            <a:solidFill>
              <a:srgbClr val="2A4452"/>
            </a:solidFill>
          </a:ln>
        </p:spPr>
        <p:txBody>
          <a:bodyPr wrap="square" lIns="2540" tIns="2540" rIns="2540" bIns="2540" rtlCol="0" anchor="t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INTELLIGENCE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DA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OLD:  </a:t>
            </a:r>
            <a:pPr indent="0" marL="0">
              <a:buNone/>
            </a:pPr>
            <a:r>
              <a:rPr lang="en-US" sz="1000" dirty="0">
                <a:solidFill>
                  <a:srgbClr val="FDA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controls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b="1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NEW:  </a:t>
            </a:r>
            <a:pPr indent="0" marL="0">
              <a:buNone/>
            </a:pPr>
            <a:r>
              <a:rPr lang="en-US" sz="1000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Connected, predictive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chillers integrate sensors, alarms, trending, BAS/BMS integration, and analytics so operators can optimize sequencing and diagnose faults faster.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FDA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Chiller Types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or legacy-leaning technologies that defined earlier mechanical plants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737360"/>
                <a:gridCol w="146304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7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7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7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7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DA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Reciprocating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Piston compressor, staged/on-off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lower upfront cost, flexible small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Noisy, high vibration, more maintenance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DA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Centrifugal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impeller compression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capacity, strong full-load efficiency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Low-load performance weaker without modern controls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DA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Twin helical rotors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Reliable, fewer moving parts, good part-load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first cost than reciprocating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DA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Absorption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Heat-driven refrigeration 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 heat / steam, lowers electric peak demand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COP, larger footprint, complex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223760" y="1600200"/>
            <a:ext cx="4389120" cy="960120"/>
          </a:xfrm>
          <a:prstGeom prst="rect">
            <a:avLst>
              <a:gd name="adj" fmla="val 7619"/>
            </a:avLst>
          </a:prstGeom>
          <a:solidFill>
            <a:srgbClr val="142B38"/>
          </a:solidFill>
          <a:ln w="6350">
            <a:solidFill>
              <a:srgbClr val="2A4452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DA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RECIPROCATING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5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piston-era baseline. Strong for simple plants, but pays a penalty in acoustics, wear, and lifecycle service.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223760" y="2679192"/>
            <a:ext cx="4389120" cy="960120"/>
          </a:xfrm>
          <a:prstGeom prst="rect">
            <a:avLst>
              <a:gd name="adj" fmla="val 7619"/>
            </a:avLst>
          </a:prstGeom>
          <a:solidFill>
            <a:srgbClr val="142B38"/>
          </a:solidFill>
          <a:ln w="6350">
            <a:solidFill>
              <a:srgbClr val="2A4452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DA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CENTRIFUGAL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5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large-plant machine. Still relevant, but older units are less agile than modern VSD or oil-free variants.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223760" y="3758184"/>
            <a:ext cx="4389120" cy="960120"/>
          </a:xfrm>
          <a:prstGeom prst="rect">
            <a:avLst>
              <a:gd name="adj" fmla="val 7619"/>
            </a:avLst>
          </a:prstGeom>
          <a:solidFill>
            <a:srgbClr val="142B38"/>
          </a:solidFill>
          <a:ln w="6350">
            <a:solidFill>
              <a:srgbClr val="2A4452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DA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5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workhorse mature compressor. Common in mid-size buildings — balances size, reliability, and control.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223760" y="4837176"/>
            <a:ext cx="4389120" cy="960120"/>
          </a:xfrm>
          <a:prstGeom prst="rect">
            <a:avLst>
              <a:gd name="adj" fmla="val 7619"/>
            </a:avLst>
          </a:prstGeom>
          <a:solidFill>
            <a:srgbClr val="142B38"/>
          </a:solidFill>
          <a:ln w="6350">
            <a:solidFill>
              <a:srgbClr val="2A4452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DA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5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path, not just an old one. Important when thermal energy is available, not the default for electric plants.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5852160"/>
            <a:ext cx="11091672" cy="640080"/>
          </a:xfrm>
          <a:prstGeom prst="rect">
            <a:avLst>
              <a:gd name="adj" fmla="val 11429"/>
            </a:avLst>
          </a:prstGeom>
          <a:solidFill>
            <a:srgbClr val="1A3340"/>
          </a:solidFill>
          <a:ln w="9525">
            <a:solidFill>
              <a:srgbClr val="DA7101"/>
            </a:solidFill>
          </a:ln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DA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chiller technology usually means more mechanical simplicity and sometimes lower capital cost, but also more maintenance exposure and weaker optimization under variable building load.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Chiller Types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control philosophy, stronger part-load optimization, better motor speed control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737360"/>
                <a:gridCol w="146304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7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7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7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7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7C9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Spiral compression, often modularized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Compact, quiet, efficient small-to-medium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ideal for very large plants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7C9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Oil-free centrifugal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Magnetic bearings, no oil loop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friction, low maintenance, high efficiency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capital cost, specialized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7C9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Turbocor / VSD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Variable-speed high-speed compression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part-load, fast modulation, smart sequencing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electronics complexity, premium 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7C9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 chiller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smaller units as one plant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Scalable, redundant, easy phased expansion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D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modules = more components to coordinate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3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223760" y="1600200"/>
            <a:ext cx="4389120" cy="960120"/>
          </a:xfrm>
          <a:prstGeom prst="rect">
            <a:avLst>
              <a:gd name="adj" fmla="val 7619"/>
            </a:avLst>
          </a:prstGeom>
          <a:solidFill>
            <a:srgbClr val="142B38"/>
          </a:solidFill>
          <a:ln w="6350">
            <a:solidFill>
              <a:srgbClr val="2A4452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5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compact mainstream option. Favored for rooftops, packaged plants, and modular arrays where footprint matters.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223760" y="2679192"/>
            <a:ext cx="4389120" cy="960120"/>
          </a:xfrm>
          <a:prstGeom prst="rect">
            <a:avLst>
              <a:gd name="adj" fmla="val 7619"/>
            </a:avLst>
          </a:prstGeom>
          <a:solidFill>
            <a:srgbClr val="142B38"/>
          </a:solidFill>
          <a:ln w="6350">
            <a:solidFill>
              <a:srgbClr val="2A4452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OIL-FREE CENTRIFUGAL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5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low-friction architecture. Removes oil-management penalties; improves service intervals and heat-exchanger cleanliness.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223760" y="3758184"/>
            <a:ext cx="4389120" cy="960120"/>
          </a:xfrm>
          <a:prstGeom prst="rect">
            <a:avLst>
              <a:gd name="adj" fmla="val 7619"/>
            </a:avLst>
          </a:prstGeom>
          <a:solidFill>
            <a:srgbClr val="142B38"/>
          </a:solidFill>
          <a:ln w="6350">
            <a:solidFill>
              <a:srgbClr val="2A4452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TURBOCOR / VSD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5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response to variable-load reality. Strongest improvement is real operating efficiency, not headline full-load numbers.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223760" y="4837176"/>
            <a:ext cx="4389120" cy="960120"/>
          </a:xfrm>
          <a:prstGeom prst="rect">
            <a:avLst>
              <a:gd name="adj" fmla="val 7619"/>
            </a:avLst>
          </a:prstGeom>
          <a:solidFill>
            <a:srgbClr val="142B38"/>
          </a:solidFill>
          <a:ln w="6350">
            <a:solidFill>
              <a:srgbClr val="2A4452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5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as advantage. Useful where redundancy, retrofit space, or staged expansion matters more than one big machine.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5852160"/>
            <a:ext cx="11091672" cy="640080"/>
          </a:xfrm>
          <a:prstGeom prst="rect">
            <a:avLst>
              <a:gd name="adj" fmla="val 11429"/>
            </a:avLst>
          </a:prstGeom>
          <a:solidFill>
            <a:srgbClr val="1A3340"/>
          </a:solidFill>
          <a:ln w="9525">
            <a:solidFill>
              <a:srgbClr val="A7C957"/>
            </a:solidFill>
          </a:ln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chiller technology is defined by control quality, part-load efficiency, reduced oil dependence, and deeper BMS/BAS visibility rather than by compressor shape alone.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Rejection: Air-cooled vs. Water-cooled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architecture choice — not inherently old vs. new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266944" cy="3291840"/>
          </a:xfrm>
          <a:prstGeom prst="rect">
            <a:avLst>
              <a:gd name="adj" fmla="val 3333"/>
            </a:avLst>
          </a:prstGeom>
          <a:solidFill>
            <a:srgbClr val="142B38"/>
          </a:solidFill>
          <a:ln w="9525">
            <a:solidFill>
              <a:srgbClr val="8FD4DE"/>
            </a:solidFill>
          </a:ln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AIR-COOLED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plant, lower auxiliary complexity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Rejects heat directly to ambient air using condenser fans.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Best where water treatment, towers, and condenser loops are undesirable.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Usually easier to install and maintain, but less efficient in hot ambient conditions.</a:t>
            </a:r>
            <a:pPr indent="0" marL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373368" y="1600200"/>
            <a:ext cx="5266944" cy="3291840"/>
          </a:xfrm>
          <a:prstGeom prst="rect">
            <a:avLst>
              <a:gd name="adj" fmla="val 3333"/>
            </a:avLst>
          </a:prstGeom>
          <a:solidFill>
            <a:srgbClr val="142B38"/>
          </a:solidFill>
          <a:ln w="9525">
            <a:solidFill>
              <a:srgbClr val="A7C957"/>
            </a:solidFill>
          </a:ln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WATER-COOLED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Higher-efficiency central plant path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Rejects heat through condenser water and a cooling tower.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Better suited to large loads, high operating hours, and efficiency-driven plants.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More components, more treatment, more integration work — but stronger performance at scale.</a:t>
            </a:r>
            <a:pPr indent="0" marL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5074920"/>
            <a:ext cx="11091672" cy="1371600"/>
          </a:xfrm>
          <a:prstGeom prst="rect">
            <a:avLst>
              <a:gd name="adj" fmla="val 6667"/>
            </a:avLst>
          </a:prstGeom>
          <a:solidFill>
            <a:srgbClr val="1A3340"/>
          </a:solidFill>
          <a:ln w="6350">
            <a:solidFill>
              <a:srgbClr val="2A4452"/>
            </a:solidFill>
          </a:ln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DIFFERENCE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an old-versus-new distinction by itself — it is a system architecture choice. Older or newer compressor technologies can exist in either air-cooled or water-cooled arrangements, but water-cooled plants usually dominate where capacity and operating efficiency are priorities.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49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Shift: Old to New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dimensions of the transition from legacy to modern chiller plants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2404872" cy="2926080"/>
          </a:xfrm>
          <a:prstGeom prst="rect">
            <a:avLst>
              <a:gd name="adj" fmla="val 4563"/>
            </a:avLst>
          </a:prstGeom>
          <a:solidFill>
            <a:srgbClr val="142B38"/>
          </a:solidFill>
          <a:ln w="9525">
            <a:solidFill>
              <a:srgbClr val="2A445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LOGIC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DA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speed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49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speed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 loading, less cycling stress, better plant matching.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47288" y="1600200"/>
            <a:ext cx="2404872" cy="2926080"/>
          </a:xfrm>
          <a:prstGeom prst="rect">
            <a:avLst>
              <a:gd name="adj" fmla="val 4563"/>
            </a:avLst>
          </a:prstGeom>
          <a:solidFill>
            <a:srgbClr val="142B38"/>
          </a:solidFill>
          <a:ln w="9525">
            <a:solidFill>
              <a:srgbClr val="2A445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DA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Oil-heavy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49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Oil-free options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fouling and fewer lubrication-related service issues in premium designs.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36792" y="1600200"/>
            <a:ext cx="2404872" cy="2926080"/>
          </a:xfrm>
          <a:prstGeom prst="rect">
            <a:avLst>
              <a:gd name="adj" fmla="val 4563"/>
            </a:avLst>
          </a:prstGeom>
          <a:solidFill>
            <a:srgbClr val="142B38"/>
          </a:solidFill>
          <a:ln w="9525">
            <a:solidFill>
              <a:srgbClr val="2A445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DA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Full-load focus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49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Part-load focus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plants judged by real operating profile, not only design-point performance.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235440" y="1600200"/>
            <a:ext cx="2404872" cy="2926080"/>
          </a:xfrm>
          <a:prstGeom prst="rect">
            <a:avLst>
              <a:gd name="adj" fmla="val 4563"/>
            </a:avLst>
          </a:prstGeom>
          <a:solidFill>
            <a:srgbClr val="142B38"/>
          </a:solidFill>
          <a:ln w="9525">
            <a:solidFill>
              <a:srgbClr val="2A4452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ECOSYSTEM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DA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49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A7C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intelligence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Trending, alarms, remote visibility, and BAS coordination become standard.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11091672" cy="1645920"/>
          </a:xfrm>
          <a:prstGeom prst="rect">
            <a:avLst>
              <a:gd name="adj" fmla="val 5556"/>
            </a:avLst>
          </a:prstGeom>
          <a:solidFill>
            <a:srgbClr val="1A3340"/>
          </a:solidFill>
          <a:ln w="6350">
            <a:solidFill>
              <a:srgbClr val="2A4452"/>
            </a:solidFill>
          </a:ln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IN PRACTICE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evaluate a replacement or retrofit, the real gain usually comes from better sequencing, better part-load response, softer starting, lower maintenance exposure, and better operational data — rather than from changing the compressor family alone.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371600"/>
            <a:ext cx="5029200" cy="5029200"/>
          </a:xfrm>
          <a:prstGeom prst="ellipse">
            <a:avLst/>
          </a:prstGeom>
          <a:solidFill>
            <a:srgbClr val="49B3C8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A7C95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5720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spider diagram is the navigation map — each node opens full detail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926080"/>
            <a:ext cx="5029200" cy="1097280"/>
          </a:xfrm>
          <a:prstGeom prst="rect">
            <a:avLst>
              <a:gd name="adj" fmla="val 10000"/>
            </a:avLst>
          </a:prstGeom>
          <a:solidFill>
            <a:srgbClr val="142B38"/>
          </a:solidFill>
          <a:ln w="9525">
            <a:solidFill>
              <a:srgbClr val="2A4452"/>
            </a:solidFill>
          </a:ln>
        </p:spPr>
        <p:txBody>
          <a:bodyPr wrap="square" lIns="2540" tIns="2540" rIns="2540" bIns="254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≠ just older manufacture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means fixed-speed, oil-heavy, full-load-biased, standalone equipment with simpler controls.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2926080"/>
            <a:ext cx="5029200" cy="1097280"/>
          </a:xfrm>
          <a:prstGeom prst="rect">
            <a:avLst>
              <a:gd name="adj" fmla="val 10000"/>
            </a:avLst>
          </a:prstGeom>
          <a:solidFill>
            <a:srgbClr val="142B38"/>
          </a:solidFill>
          <a:ln w="9525">
            <a:solidFill>
              <a:srgbClr val="2A4452"/>
            </a:solidFill>
          </a:ln>
        </p:spPr>
        <p:txBody>
          <a:bodyPr wrap="square" lIns="2540" tIns="2540" rIns="2540" bIns="254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≠ just newer compressors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means VSDs, part-load optimization, oil-free options, low-GWP refrigerants, and connected BMS intelligence.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4160520"/>
            <a:ext cx="5029200" cy="1097280"/>
          </a:xfrm>
          <a:prstGeom prst="rect">
            <a:avLst>
              <a:gd name="adj" fmla="val 10000"/>
            </a:avLst>
          </a:prstGeom>
          <a:solidFill>
            <a:srgbClr val="142B38"/>
          </a:solidFill>
          <a:ln w="9525">
            <a:solidFill>
              <a:srgbClr val="2A4452"/>
            </a:solidFill>
          </a:ln>
        </p:spPr>
        <p:txBody>
          <a:bodyPr wrap="square" lIns="2540" tIns="2540" rIns="2540" bIns="254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rejection is orthogonal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Air-cooled vs. water-cooled is an architecture choice independent of compressor generation.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4160520"/>
            <a:ext cx="5029200" cy="1097280"/>
          </a:xfrm>
          <a:prstGeom prst="rect">
            <a:avLst>
              <a:gd name="adj" fmla="val 10000"/>
            </a:avLst>
          </a:prstGeom>
          <a:solidFill>
            <a:srgbClr val="142B38"/>
          </a:solidFill>
          <a:ln w="9525">
            <a:solidFill>
              <a:srgbClr val="2A4452"/>
            </a:solidFill>
          </a:ln>
        </p:spPr>
        <p:txBody>
          <a:bodyPr wrap="square" lIns="2540" tIns="2540" rIns="2540" bIns="254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value is systemic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D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gains come from sequencing, part-load response, softer starts, lower maintenance, and operational data.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603504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HTML deck · PPTX export · Chiller technology comparison package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2026-07-27T04:18:02Z</dcterms:created>
  <dcterms:modified xsi:type="dcterms:W3CDTF">2026-07-27T04:18:02Z</dcterms:modified>
</cp:coreProperties>
</file>